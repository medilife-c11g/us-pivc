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One-hour keynote: ~45 min talk, 10 min Q&amp;A, 5 min buffer. Framing: eFAST is not just a trauma-bay ritual — it is a decision instrument that matters MOST where resources are thinnest: rural hospitals and mass-casualty scenes. Update date/venue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brief — 15 seconds. Edit to reflect your actual disclosures and your institution's/conference's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Signpost the hour. Emphasize the arc: we start in the resus bay everyone knows, then take the same probe to places with no CT scanner and no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Hook the audience with the case — pause on the question. We return to this patient at the end of Part 2. The point: the value of eFAST is inversely proportional to the resources around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 transition. Even experts benefit from re-anchoring on what the exam can and cannot answer — the rural and MCI material later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Key historical beats only — verify the exact citation details against the reference slide before presenting. The message: each expansion of the exam followed a clinical need, not a technology push. eFAST added the chest because supine CXR misses so many pneumothoraces.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Hammer the framing: eFAST is a disposition tool, not a diagnostic survey. It is deliberately insensitive to solid-organ grade, hollow viscus, and retroperitoneum — that honesty is what makes it safe to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Sequence is flexible — in an unstable patient many start at the heart. Stress that a complete exam is fast; incomplete exams are where misses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If you show only two clips in this talk, show a normal and a positive RUQ side by side — the audience anchors on the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LUQ is the most commonly botched view; the subphrenic-first habit is the single highest-yield teaching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Quick physiologic-fluid caveat: trace pelvic fluid in a young woman is interpreted in clinical context, not reflexively called a positive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If the liver is in the way, push the depth and use it as a window; if subxiphoid fails, go parasternal without hesitation.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This is where eFAST clearly beats the supine chest film. Live-demo the M-mode signs if a machine is available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The mirror-artifact-vs-spine-sign pairing is intuitive even for novices — good audience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Figures are deliberately given as ranges — exact pooled estimates differ by meta-analysis; verify against the sources on the reference slide (and your own literature check) before presenting. The rhetorical move: concede the limits early so the rural/MCI claims later are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End Part 1 on the serial-exam mantra — it recurs in the rural section (repeat during long transports) and the MCI section (re-triage loops).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Part 2 is short and algorithmic: where the exam sits, and how positive/negative branches differ in stable vs unstable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Position matters: teams that treat eFAST as an early, integrated step act on it; teams that treat it as an imaging order lose the speed advantage.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Walk the quadrants clockwise from top-left. The top-left cell is the entire justification for the exam: it removes CT from the path of the dying patient.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One-line summary for the audience: in penetrating trauma, eFAST rules things IN beautifully and rules almost nothing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Land the emotional beat: nothing about this decision required a radiologist, a CT, or a big hospital. That is the bridge into Part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Shift the frame: everything so far assumed a trauma center. Most of the world's trauma does not happen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Localize this slide: swap in your own region's transfer times and CT availability if you have them — audiences engage far more with local numbers. [ADD LOCAL DATA IF AVAILABLE]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The handover point is underrated: eFAST creates a shared, objective vocabulary between a rural GP and a trauma surgeon who have never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If you have personal experience with a specific handheld or tele-US program, tell that story here — first-person beats citation. Avoid naming brands unless disclosed.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Emphasize documentation: in transfer systems, the exam that isn't written down (or sent) didn't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This case sells serial exams better than any test characteristic can. Swap in a real (de-identified) case of your own if available — it will land harder.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Practical, non-preachy tone. If your hospital runs a QA or tele-review loop, describe it concretely. [ADD LOCAL PROGRAM DETAILS IF APPLICABLE]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sec. Reframe once more: same exam, but now the scarce resource is not CT — it is time, operating rooms, and transport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Set up the gap precisely: MCI triage tools measure compensation, not injury. eFAST looks one layer deeper for four specific, actionable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IMPORTANT: verify the disaster-literature details (authors, casualty numbers, exact findings) against the sources before presenting — the slide deliberately avoids specific performance numbers. The robust, defensible claim: ultrasound triage in disasters is repeatedly reported as feasible and operationally useful, not that it has trial-grade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Guard against the failure mode where ultrasound becomes a bottleneck: it is a screen inside secondary triage, never a gate in front of primary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The skin-marking detail always draws nods — it converts the abstract 'ultrasound triage' into something an audience can operationalize on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~1.5 min. Credibility slide — conceding the failure modes makes the overall MCI argument stronger, not weaker.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~2.5 min. Composite teaching case — present it as such. It deliberately fuses Parts 3 and 4: limited hospital + surge. Walk it slowly; this is the talk's synthesis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~20 sec. Final stretch: keep energy up, this section is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Stay grounded — this audience will include skeptics. The defensible line: the bottleneck is moving from hardware to training and governance, and AI may compress the training curve if validated properly.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 min. Read all five slowly — this is the slide people photograph. Then transition to thanks/questions.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this slide aloud. Before the talk: verify every citation (authors, journal, year) against PubMed and add 1–2 recent meta-analyses on eFAST test performance that you have personally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audience war stories explicitly — rural and disaster ultrasound talks reliably generate good Q&amp;A when you ask for experiences, not just questions. Budget ~10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A541"/>
                </a:solidFill>
                <a:latin typeface="Segoe UI"/>
              </a:rPr>
              <a:t>KEYNOTE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789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eFAST in Trauma:
From the Resus Bay to the Roadside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B8C9D9"/>
                </a:solidFill>
                <a:latin typeface="Segoe UI"/>
              </a:rPr>
              <a:t>Extended Focused Assessment with Sonography for Trauma — applications in everyday, rural, and mass-casualty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Chia-Ching Chen, MD
</a:t>
            </a:r>
            <a:r>
              <a:rPr sz="1500" b="0" i="0">
                <a:solidFill>
                  <a:srgbClr val="B8C9D9"/>
                </a:solidFill>
                <a:latin typeface="Segoe UI"/>
              </a:rPr>
              <a:t>Emergency Medicine, Changhua Show Chwan Memorial Hospital
</a:t>
            </a:r>
            <a:r>
              <a:rPr sz="1500" b="0" i="1">
                <a:solidFill>
                  <a:srgbClr val="14919B"/>
                </a:solidFill>
                <a:latin typeface="Segoe UI"/>
              </a:rPr>
              <a:t>[DATE / VENUE]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Disclosures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[No conflicts of interest to declare — EDIT AS APPLICABLE]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[Funding / device relationships, if any]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Images and clips in this talk are used for education. Patient-identifiable material has been removed or consented.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Where we are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64240" cy="84124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4008" cy="84124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92808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541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56232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2740"/>
                </a:solidFill>
                <a:latin typeface="Segoe UI"/>
              </a:rPr>
              <a:t>Foundations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856232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7B87"/>
                </a:solidFill>
                <a:latin typeface="Segoe UI"/>
              </a:rPr>
              <a:t>What eFAST asks, the views, the evidence, the pitfalls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15768"/>
            <a:ext cx="11064240" cy="84124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15768"/>
            <a:ext cx="64008" cy="841248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825496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541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88920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2740"/>
                </a:solidFill>
                <a:latin typeface="Segoe UI"/>
              </a:rPr>
              <a:t>Decision-making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788920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7B87"/>
                </a:solidFill>
                <a:latin typeface="Segoe UI"/>
              </a:rPr>
              <a:t>Where eFAST sits in the trauma algorithm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48456"/>
            <a:ext cx="11064240" cy="84124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48456"/>
            <a:ext cx="64008" cy="84124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58184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541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721608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2740"/>
                </a:solidFill>
                <a:latin typeface="Segoe UI"/>
              </a:rPr>
              <a:t>The rural 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721608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7B87"/>
                </a:solidFill>
                <a:latin typeface="Segoe UI"/>
              </a:rPr>
              <a:t>Triage-to-transfer when there is no CT down the hall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581144"/>
            <a:ext cx="11064240" cy="84124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581144"/>
            <a:ext cx="64008" cy="841248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90872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541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2740"/>
                </a:solidFill>
                <a:latin typeface="Segoe UI"/>
              </a:rPr>
              <a:t>Mass casualty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654296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7B87"/>
                </a:solidFill>
                <a:latin typeface="Segoe UI"/>
              </a:rPr>
              <a:t>Sonographic triage when needs exceed resources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13832"/>
            <a:ext cx="11064240" cy="841248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513832"/>
            <a:ext cx="64008" cy="84124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2356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2A541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586984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0B2740"/>
                </a:solidFill>
                <a:latin typeface="Segoe UI"/>
              </a:rPr>
              <a:t>Looking ahead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586984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E7B87"/>
                </a:solidFill>
                <a:latin typeface="Segoe UI"/>
              </a:rPr>
              <a:t>Training, tele-ultrasound, AI — and 5 take-homes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OPENING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A Tuesday night, 90 minutes from 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34-year-old motorcyclist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vs. truck, brought to a small rural hospital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BP 86/54, HR 128, RR 26, GCS 14; abdomen tender, seatbelt-type abrasion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No CT scanner tonight. No surgeon in-house. Helicopter: 40 min out.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The only imaging you have is the ultrasound machine beside you.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4919B"/>
                </a:solidFill>
                <a:latin typeface="Segoe UI"/>
              </a:rPr>
              <a:t>Question for the room: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what single examination changes what you do in the next 10 minutes?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160520"/>
            <a:ext cx="3474720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Optional: photo of a rural ED / transport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919B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Foundations of eFAST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B8C9D9"/>
                </a:solidFill>
                <a:latin typeface="Segoe UI"/>
              </a:rPr>
              <a:t>Four questions, ten minutes of anatomy, and an honest look at the 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From FAST to eFAST — a 30-year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947672"/>
            <a:ext cx="256032" cy="256032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" y="2240280"/>
            <a:ext cx="41148" cy="777240"/>
          </a:xfrm>
          <a:prstGeom prst="rect">
            <a:avLst/>
          </a:prstGeom>
          <a:solidFill>
            <a:srgbClr val="C8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783080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740"/>
                </a:solidFill>
                <a:latin typeface="Segoe UI"/>
              </a:rPr>
              <a:t>1970s–80s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55648"/>
            <a:ext cx="8595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5424E"/>
                </a:solidFill>
                <a:latin typeface="Segoe UI"/>
              </a:rPr>
              <a:t>European surgeons use bedside ultrasound for blunt abdominal trauma, largely replacing peritoneal lavage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26664"/>
            <a:ext cx="256032" cy="256032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" y="3319272"/>
            <a:ext cx="41148" cy="777240"/>
          </a:xfrm>
          <a:prstGeom prst="rect">
            <a:avLst/>
          </a:prstGeom>
          <a:solidFill>
            <a:srgbClr val="C8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862072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740"/>
                </a:solidFill>
                <a:latin typeface="Segoe UI"/>
              </a:rPr>
              <a:t>1990s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34640"/>
            <a:ext cx="8595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5424E"/>
                </a:solidFill>
                <a:latin typeface="Segoe UI"/>
              </a:rPr>
              <a:t>North American adoption; the term “FAST” is standardized through international consensus (Rozycki, Scalea, and colleagues)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105656"/>
            <a:ext cx="256032" cy="256032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" y="4398264"/>
            <a:ext cx="41148" cy="777240"/>
          </a:xfrm>
          <a:prstGeom prst="rect">
            <a:avLst/>
          </a:prstGeom>
          <a:solidFill>
            <a:srgbClr val="C8D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941064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740"/>
                </a:solidFill>
                <a:latin typeface="Segoe UI"/>
              </a:rPr>
              <a:t>2004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13632"/>
            <a:ext cx="8595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5424E"/>
                </a:solidFill>
                <a:latin typeface="Segoe UI"/>
              </a:rPr>
              <a:t>“Extended” FAST described: thoracic windows added for pneumothorax and hemothorax (Kirkpatrick et al.)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184648"/>
            <a:ext cx="256032" cy="256032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020056"/>
            <a:ext cx="1737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2740"/>
                </a:solidFill>
                <a:latin typeface="Segoe UI"/>
              </a:rPr>
              <a:t>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992624"/>
            <a:ext cx="8595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35424E"/>
                </a:solidFill>
                <a:latin typeface="Segoe UI"/>
              </a:rPr>
              <a:t>An adjunct to the ATLS® primary survey — performed during, not after, resuscitation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eFAST asks four binary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146304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146304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5074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919B"/>
                </a:solidFill>
                <a:latin typeface="Segoe UI"/>
              </a:rPr>
              <a:t>Free intraperitoneal fluid?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Hemoperitoneum until proven otherwise in trauma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40680" cy="146304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4008" cy="146304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38528"/>
            <a:ext cx="5074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B2740"/>
                </a:solidFill>
                <a:latin typeface="Segoe UI"/>
              </a:rPr>
              <a:t>Pericardial effusion?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± sonographic signs of tamponade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5440680" cy="146304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64008" cy="146304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30168"/>
            <a:ext cx="5074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919B"/>
                </a:solidFill>
                <a:latin typeface="Segoe UI"/>
              </a:rPr>
              <a:t>Pneumothorax?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Absent lung sliding, lung 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5440680" cy="146304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20440"/>
            <a:ext cx="64008" cy="146304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630168"/>
            <a:ext cx="5074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B2740"/>
                </a:solidFill>
                <a:latin typeface="Segoe UI"/>
              </a:rPr>
              <a:t>Hemothorax?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Fluid above the diaphragm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440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35424E"/>
                </a:solidFill>
                <a:latin typeface="Segoe UI"/>
              </a:rPr>
              <a:t>Not </a:t>
            </a:r>
            <a:r>
              <a:rPr sz="1800" b="0" i="1">
                <a:solidFill>
                  <a:srgbClr val="35424E"/>
                </a:solidFill>
                <a:latin typeface="Segoe UI"/>
              </a:rPr>
              <a:t>“is there an injury?”</a:t>
            </a:r>
            <a:r>
              <a:rPr sz="1800" b="0" i="0">
                <a:solidFill>
                  <a:srgbClr val="35424E"/>
                </a:solidFill>
                <a:latin typeface="Segoe UI"/>
              </a:rPr>
              <a:t> — but </a:t>
            </a:r>
            <a:r>
              <a:rPr sz="1800" b="1" i="0">
                <a:solidFill>
                  <a:srgbClr val="14919B"/>
                </a:solidFill>
                <a:latin typeface="Segoe UI"/>
              </a:rPr>
              <a:t>“does this patient need an intervention, an operating room, or a transfer — now?”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The exam: six windows, three to five minutes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6400800" cy="786384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4008" cy="78638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92808"/>
            <a:ext cx="6035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919B"/>
                </a:solidFill>
                <a:latin typeface="Segoe UI"/>
              </a:rPr>
              <a:t>1 · Subxiphoid cardiac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300">
                <a:solidFill>
                  <a:srgbClr val="35424E"/>
                </a:solidFill>
                <a:latin typeface="Segoe UI"/>
              </a:rPr>
              <a:t>Pericardial fluid; RV collapse if tamponade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9192"/>
            <a:ext cx="6400800" cy="786384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79192"/>
            <a:ext cx="64008" cy="78638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788920"/>
            <a:ext cx="6035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919B"/>
                </a:solidFill>
                <a:latin typeface="Segoe UI"/>
              </a:rPr>
              <a:t>2 · RUQ (Morison's)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300">
                <a:solidFill>
                  <a:srgbClr val="35424E"/>
                </a:solidFill>
                <a:latin typeface="Segoe UI"/>
              </a:rPr>
              <a:t>Hepatorenal recess, caudal liver tip, right lung 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75304"/>
            <a:ext cx="6400800" cy="786384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75304"/>
            <a:ext cx="64008" cy="78638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85032"/>
            <a:ext cx="6035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919B"/>
                </a:solidFill>
                <a:latin typeface="Segoe UI"/>
              </a:rPr>
              <a:t>3 · LUQ (splenorenal)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300">
                <a:solidFill>
                  <a:srgbClr val="35424E"/>
                </a:solidFill>
                <a:latin typeface="Segoe UI"/>
              </a:rPr>
              <a:t>Perisplenic + subphrenic space, left lung 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71416"/>
            <a:ext cx="6400800" cy="786384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471416"/>
            <a:ext cx="64008" cy="78638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581144"/>
            <a:ext cx="6035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919B"/>
                </a:solidFill>
                <a:latin typeface="Segoe UI"/>
              </a:rPr>
              <a:t>4 · Suprapubic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300">
                <a:solidFill>
                  <a:srgbClr val="35424E"/>
                </a:solidFill>
                <a:latin typeface="Segoe UI"/>
              </a:rPr>
              <a:t>Rectovesical space / pouch of Douglas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67528"/>
            <a:ext cx="6400800" cy="786384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367528"/>
            <a:ext cx="64008" cy="786384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477256"/>
            <a:ext cx="6035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919B"/>
                </a:solidFill>
                <a:latin typeface="Segoe UI"/>
              </a:rPr>
              <a:t>5–6 · Anterior chest ×2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300">
                <a:solidFill>
                  <a:srgbClr val="35424E"/>
                </a:solidFill>
                <a:latin typeface="Segoe UI"/>
              </a:rPr>
              <a:t>Lung sliding at the most anterior point, supine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783080"/>
            <a:ext cx="4297680" cy="3291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Torso diagram with probe positions (your preferred figure)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5257800"/>
            <a:ext cx="4297680" cy="9601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5257800"/>
            <a:ext cx="64008" cy="96012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5367528"/>
            <a:ext cx="3931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2740"/>
                </a:solidFill>
                <a:latin typeface="Segoe UI"/>
              </a:rPr>
              <a:t>Probe: </a:t>
            </a:r>
            <a:r>
              <a:rPr sz="1400" b="0" i="0">
                <a:solidFill>
                  <a:srgbClr val="35424E"/>
                </a:solidFill>
                <a:latin typeface="Segoe UI"/>
              </a:rPr>
              <a:t>curvilinear or phased 2–5 MHz for all views; linear probe optional for pleura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RUQ view — the workhorse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Morison's pouch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(hepatorenal recess): classic single most sensitive window for free fluid in the supine patient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Sweep to the caudal liver tip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often the first place small volumes collect; a “Morison's-only” glance under-performs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Slide cephalad above the diaphragm → right hemothorax check in the same window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Pitfall: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perinephric fat and gallbladder can mimic or hide free fluid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Normal RUQ clip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69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Positive RUQ — anechoic stripe in Morison's pouch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LUQ view — more posterior than you think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“Knuckles to the bed”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probe more posterior and cephalad than the RUQ mirror image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Check the subphrenic space first: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fluid often collects between spleen and diaphragm before the splenorenal recess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Rib shadows dominate — small fanning movements, breath timing if feasible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Same window, look above the diaphragm → left hemothorax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LUQ probe position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69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Positive LUQ — perisplenic fluid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Pelvic view — the bladder is your friend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Scan before the Foley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a full bladder is the acoustic window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Transverse and sagittal sweeps; fluid pools posterior to the bladder (rectovesical space; pouch of Douglas in women)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Most dependent peritoneal space in the pelvis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may be positive when upper quadrants are still negative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Pitfalls: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seminal vesicles, ovarian cysts, small physiologic fluid in premenopausal women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Pelvic view — transverse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69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Positive pelvic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Cardiac view — it changes the operation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Subxiphoid four-chamber first; parasternal long-axis as the rescue window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Pericardial effusion in trauma = hemopericardium until proven otherwise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Tamponade physiology: RV diastolic collapse, plethoric IVC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In penetrating chest trauma this is the star view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it moves patients to the OR before they arrest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Pitfalls: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epicardial fat pad; clotted hemopericardium may be isoechoic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Normal subxiphoid clip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69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Pericardial effusion ± RV collapse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The “e” in eFAST — pneumothorax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Lung sliding present → no pneumothorax at that interspace</a:t>
            </a:r>
            <a:r>
              <a:rPr sz="1500" b="0" i="0">
                <a:solidFill>
                  <a:srgbClr val="6E7B87"/>
                </a:solidFill>
                <a:latin typeface="Segoe UI"/>
              </a:rPr>
              <a:t>  (B-lines or lung pulse also exclude it there)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Absent sliding alone is NOT diagnostic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mainstem intubation, blebs, adhesions, apnea all abolish it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Lung point = the specific sign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the edge where sliding reappears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M-mode memory hook: seashore (normal) vs. barcode/stratosphere (PTX)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Supine anterior chest is the money spot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air rises to the least dependent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Lung sliding + M-mode seashore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69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Absent sliding / lung point / barcode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Hemothorax — look above the diaphragm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7665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Same RUQ/LUQ windows, angled cephalad — no extra probe placement needed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Spine sign: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vertebral bodies visible above the diaphragm = fluid (aerated lung normally scatters the beam)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Detects far smaller collections than the supine chest film, on which blood layers posteriorly and even large hemothoraces can look subtle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Quantification is possible but rarely changes the trauma decision — present or absent is what matters tonight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Normal diaphragm — mirror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069080"/>
            <a:ext cx="3977639" cy="214884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Hemothorax with spine 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What the evidence honestly supports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64240" cy="98755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64008" cy="9875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47088"/>
            <a:ext cx="10698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919B"/>
                </a:solidFill>
                <a:latin typeface="Segoe UI"/>
              </a:rPr>
              <a:t>Free intraperitoneal fluid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Sensitivity varies widely across studies (~60–95%+, operator- and population-dependent); specificity consistently high (~95%+)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52928"/>
            <a:ext cx="11064240" cy="98755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64008" cy="987552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10698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919B"/>
                </a:solidFill>
                <a:latin typeface="Segoe UI"/>
              </a:rPr>
              <a:t>Pneumothorax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US markedly more sensitive than supine CXR in meta-analyses (pooled sensitivity roughly 85–90% vs ~40–50% for CXR), with comparable high specificity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68496"/>
            <a:ext cx="11064240" cy="98755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68496"/>
            <a:ext cx="64008" cy="987552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078224"/>
            <a:ext cx="10698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740"/>
                </a:solidFill>
                <a:latin typeface="Segoe UI"/>
              </a:rPr>
              <a:t>Pericardial effusion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High sensitivity and specificity in penetrating trauma series; false negatives reported with decompression into the pleural 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84064"/>
            <a:ext cx="11064240" cy="987552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084064"/>
            <a:ext cx="64008" cy="987552"/>
          </a:xfrm>
          <a:prstGeom prst="rect">
            <a:avLst/>
          </a:prstGeom>
          <a:solidFill>
            <a:srgbClr val="C94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193792"/>
            <a:ext cx="106984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9444D"/>
                </a:solidFill>
                <a:latin typeface="Segoe UI"/>
              </a:rPr>
              <a:t>The honest limitation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A negative eFAST does NOT exclude injury — it excludes the findings it looks for, at that moment, in those windows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1 ·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Pitfalls — how eFAST lies to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440680" cy="429768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4008" cy="4297680"/>
          </a:xfrm>
          <a:prstGeom prst="rect">
            <a:avLst/>
          </a:prstGeom>
          <a:solidFill>
            <a:srgbClr val="C94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92808"/>
            <a:ext cx="5074920" cy="4078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9444D"/>
                </a:solidFill>
                <a:latin typeface="Segoe UI"/>
              </a:rPr>
              <a:t>False negatives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Small volumes below detection threshold (~200–500 mL intraperitoneal, technique-dependent)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Clotted blood — isoechoic, easy to miss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Retroperitoneal hemorrhage — essentially invisible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Hollow viscus and mesenteric injury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Obesity, subcutaneous emphysema, uncooperative patient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Scanning too early — bleeding hasn't accumulated yet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783080"/>
            <a:ext cx="5440680" cy="288036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64008" cy="288036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8"/>
            <a:ext cx="5074920" cy="2660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6B72"/>
                </a:solidFill>
                <a:latin typeface="Segoe UI"/>
              </a:rPr>
              <a:t>False positives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Pre-existing ascites (cirrhosis, dialysis, malignancy)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Physiologic pelvic fluid in premenopausal women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Epicardial fat pad mimicking pericardial fluid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Fluid-filled bowel or stomach misread as free fluid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846320"/>
            <a:ext cx="5440680" cy="1234440"/>
          </a:xfrm>
          <a:prstGeom prst="round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983480"/>
            <a:ext cx="50292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The antidote to every pitfall:
</a:t>
            </a:r>
            <a:r>
              <a:rPr sz="1800" b="1" i="0">
                <a:solidFill>
                  <a:srgbClr val="F2A541"/>
                </a:solidFill>
                <a:latin typeface="Segoe UI"/>
              </a:rPr>
              <a:t>serial exams + clinical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919B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Trauma decision-making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B8C9D9"/>
                </a:solidFill>
                <a:latin typeface="Segoe UI"/>
              </a:rPr>
              <a:t>The same four answers drive different actions — depending on physiology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2 ·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Where eFAST sits: inside the primary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Decision-making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An adjunct to “C”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in the ATLS® primary survey — performed during resuscitation, not queued after it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Answers one question the physical exam cannot: “where is the blood?” in the unstable blunt-trauma patient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Repeatable at zero marginal cost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repeat after any deterioration, after interventions, and before transfer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Documented like any other exam: views obtained, findings, adequacy,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2 ·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Blunt trauma: the 2×2 that runs the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Decision-making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1920240"/>
          </a:xfrm>
          <a:prstGeom prst="roundRect">
            <a:avLst/>
          </a:prstGeom>
          <a:solidFill>
            <a:srgbClr val="C94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937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UNSTABLE + eFAST positive
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Operating room (or transfer to one) — no CT on the 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440680" cy="1920240"/>
          </a:xfrm>
          <a:prstGeom prst="round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937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2740"/>
                </a:solidFill>
                <a:latin typeface="Segoe UI"/>
              </a:rPr>
              <a:t>UNSTABLE + eFAST negative
</a:t>
            </a:r>
            <a:r>
              <a:rPr sz="1400" b="0" i="0">
                <a:solidFill>
                  <a:srgbClr val="0B2740"/>
                </a:solidFill>
                <a:latin typeface="Segoe UI"/>
              </a:rPr>
              <a:t>Hunt elsewhere: chest, pelvis, retroperitoneum, long bones; repeat the exam; consider other shock causes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5440680" cy="1920240"/>
          </a:xfrm>
          <a:prstGeom prst="round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937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STABLE + eFAST positive
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CT with contrast while stability lasts — grade the injury, plan selective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77640"/>
            <a:ext cx="5440680" cy="1920240"/>
          </a:xfrm>
          <a:prstGeom prst="round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60520"/>
            <a:ext cx="49377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STABLE + eFAST negative
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Serial exams ± CT by mechanism and exam — a single negative never closes the story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2 · DECISION-MAKING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Penetrating trauma: different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Decision-making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Pericardial view first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in thoracoabdominal wounds — hemopericardium sends the patient to the OR immediately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Positive abdominal windows help choose which cavity to open first in multi-cavity injury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A negative exam means little for hollow viscus, diaphragm, or trajectory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penetrating pathways still need exploration, imaging, or observation per your algorithm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Serial exams again: delayed hemopericardium and delayed hemoperitoneum are both described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CASE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Back to our motorcyclist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eFAST at 4 minutes after arrival: 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1" i="0">
                <a:solidFill>
                  <a:srgbClr val="6E7B87"/>
                </a:solidFill>
                <a:latin typeface="Segoe UI"/>
              </a:rPr>
              <a:t>anechoic stripe in Morison's pouch + caudal liver tip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pericardium dry, lungs sliding bilaterally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4919B"/>
                </a:solidFill>
                <a:latin typeface="Segoe UI"/>
              </a:rPr>
              <a:t>Unstable + positive abdomen = the decision is made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activate transfer to the trauma center NOW; blood en route, no CT attempted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Receiving surgeon gets a concrete finding, not a hunch — the OR is ready before the helicopter lands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1">
                <a:solidFill>
                  <a:srgbClr val="6E7B87"/>
                </a:solidFill>
                <a:latin typeface="Segoe UI"/>
              </a:rPr>
              <a:t>Time from probe-on-skin to transfer decision: under 5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114800"/>
            <a:ext cx="3474720" cy="210312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The actual positive clip, if you have one like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919B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The rural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B8C9D9"/>
                </a:solidFill>
                <a:latin typeface="Segoe UI"/>
              </a:rPr>
              <a:t>Where eFAST is not an adjunct — it is the imaging department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3 ·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The rural trauma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Rural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178308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64008" cy="178308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507492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919B"/>
                </a:solidFill>
                <a:latin typeface="Segoe UI"/>
              </a:rPr>
              <a:t>Distance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Definitive care is hours away; outcomes worsen with time to hemorrhage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440680" cy="178308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4008" cy="178308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38528"/>
            <a:ext cx="507492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B2740"/>
                </a:solidFill>
                <a:latin typeface="Segoe UI"/>
              </a:rPr>
              <a:t>Imaging gaps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No CT, or none after hours; plain films and clinical exam carry the 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440680" cy="178308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64008" cy="178308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950208"/>
            <a:ext cx="507492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4919B"/>
                </a:solidFill>
                <a:latin typeface="Segoe UI"/>
              </a:rPr>
              <a:t>Staffing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No in-house surgeon or anesthetist; one clinician may run the entire resuscitation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80"/>
            <a:ext cx="5440680" cy="178308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840480"/>
            <a:ext cx="64008" cy="178308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950208"/>
            <a:ext cx="507492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B2740"/>
                </a:solidFill>
                <a:latin typeface="Segoe UI"/>
              </a:rPr>
              <a:t>Transfer stakes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500">
                <a:solidFill>
                  <a:srgbClr val="35424E"/>
                </a:solidFill>
                <a:latin typeface="Segoe UI"/>
              </a:rPr>
              <a:t>Under-triage kills; over-triage drains helicopters, beds, and family finances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3 ·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eFAST changes the rural calculus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Rural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Triage-to-transfer: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a positive exam converts “worried” into “documented free fluid” — and justifies the helicopter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Destination selection: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positive pericardium or abdomen argues for the trauma center, not the nearest hospital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Objective handover: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findings transmit cleanly by phone — “positive RUQ, dry pericardium” beats “looks bad”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Repeat during transport: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a negative patient who becomes positive mid-transfer changes the receiving team's preparation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1">
                <a:solidFill>
                  <a:srgbClr val="6E7B87"/>
                </a:solidFill>
                <a:latin typeface="Segoe UI"/>
              </a:rPr>
              <a:t>The machine pays for itself in avoided wrong decisions, not billed studies.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3 ·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Handhelds and tele-ultrasound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Rural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6949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Pocket-sized probes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now deliver eFAST-adequate images at a fraction of cart prices — battery-powered, phone-connected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Tele-ultrasound: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live image streaming + remote expert guidance of a novice's hand is feasible over ordinary mobile networks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Prehospital eFAST in ambulances and HEMS is reported and feasible; the challenge is training and governance, not physics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Caveats: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image quality varies by device; battery and disinfection logistics are real; a handheld does not confer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783080"/>
            <a:ext cx="3840480" cy="210312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Handheld probe photo (your device)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023360"/>
            <a:ext cx="3840480" cy="2103120"/>
          </a:xfrm>
          <a:prstGeom prst="roundRect">
            <a:avLst/>
          </a:prstGeom>
          <a:noFill/>
          <a:ln w="15875">
            <a:solidFill>
              <a:srgbClr val="6E7B8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6E7B87"/>
                </a:solidFill>
                <a:latin typeface="Segoe UI"/>
              </a:rPr>
              <a:t>INSERT IMAGE / CLIP
</a:t>
            </a:r>
            <a:r>
              <a:rPr sz="1200" b="0" i="1">
                <a:solidFill>
                  <a:srgbClr val="6E7B87"/>
                </a:solidFill>
                <a:latin typeface="Segoe UI"/>
              </a:rPr>
              <a:t>Tele-ultrasound screenshot / setup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3 ·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A rural workflow that survives real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Rural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286000" cy="960120"/>
          </a:xfrm>
          <a:prstGeom prst="round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On arrival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28800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5424E"/>
                </a:solidFill>
                <a:latin typeface="Segoe UI"/>
              </a:rPr>
              <a:t>eFAST inside the primary survey — before the Foley, before the log-roll if feasible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98648"/>
            <a:ext cx="2286000" cy="960120"/>
          </a:xfrm>
          <a:prstGeom prst="round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Decision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44368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5424E"/>
                </a:solidFill>
                <a:latin typeface="Segoe UI"/>
              </a:rPr>
              <a:t>Unstable + positive → transfer/OR pathway immediately; unstable + negative → widen the search, repeat in 10–15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14216"/>
            <a:ext cx="2286000" cy="960120"/>
          </a:xfrm>
          <a:prstGeom prst="round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Pre-departure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059936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5424E"/>
                </a:solidFill>
                <a:latin typeface="Segoe UI"/>
              </a:rPr>
              <a:t>Repeat exam; document views, findings, time — send images with the patient if you can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9784"/>
            <a:ext cx="2286000" cy="960120"/>
          </a:xfrm>
          <a:prstGeom prst="round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In transit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175504"/>
            <a:ext cx="8503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35424E"/>
                </a:solidFill>
                <a:latin typeface="Segoe UI"/>
              </a:rPr>
              <a:t>Repeat after deterioration or long legs of transport; relay changes ahead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3 ·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Case 2 — the tractor rollover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58-year-old farmer, tractor rollover, 2 hours from the trauma center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Initially stable: BP 118/76, HR 96 — “he looks okay”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First eFAST: negative.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 Kept for observation with hourly vitals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Repeat at 45 min (new tachycardia): 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1" i="0">
                <a:solidFill>
                  <a:srgbClr val="C9444D"/>
                </a:solidFill>
                <a:latin typeface="Segoe UI"/>
              </a:rPr>
              <a:t>free fluid now visible at the caudal liver tip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Transfer launched before hypotension ever appeared — splenic injury managed operatively that evening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4919B"/>
                </a:solidFill>
                <a:latin typeface="Segoe UI"/>
              </a:rPr>
              <a:t>Moral: the serial exam is the rural safety net.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3 · RURAL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Keeping skills alive in low-volume settings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Rural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Learning curve to competent basic eFAST is modest — commonly cited thresholds are in the tens of proctored exams, not hundreds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The rural problem is decay, not acquisition: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low trauma volume erodes image-generation skill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Countermeasures that work in practice: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scan non-trauma patients deliberately (normal anatomy reps)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periodic image-review sessions with a remote expert (QA loop)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simulation and phantom refreshers; tele-mentored live exams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Credentialing: follow your national/institutional POCUS framework — and record your numbers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919B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Mass-casualty incidents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B8C9D9"/>
                </a:solidFill>
                <a:latin typeface="Segoe UI"/>
              </a:rPr>
              <a:t>When needs exceed resources, the probe becomes a triage instrument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4 · MASS CASUALTY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The MCI triage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MCI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Definition of the problem: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casualties exceed the resources available to treat them at the usual standard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First-pass triage (START and relatives) is physiologic — it sorts by vitals and mobility, and is blind to internal hemorrhage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The dangerous group: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“delayed” patients who are quietly bleeding — physiology compensates until it doesn't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CT is a single-lane bridge in a surge; whatever sorts patients without it protects the whole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4 · MASS CASUALTY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What disasters have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MCI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064240" cy="128016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4008" cy="128016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92808"/>
            <a:ext cx="106984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919B"/>
                </a:solidFill>
                <a:latin typeface="Segoe UI"/>
              </a:rPr>
              <a:t>1988 Armenia earthquake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Sonographic screening of hundreds of casualties for abdominal injury — an early landmark of mass ultrasound triage (Sarkisian et al.)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11064240" cy="128016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64008" cy="128016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10128"/>
            <a:ext cx="106984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740"/>
                </a:solidFill>
                <a:latin typeface="Segoe UI"/>
              </a:rPr>
              <a:t>Subsequent earthquakes &amp; conflicts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Repeated reports (e.g., Marmara 1999, Wenchuan 2008, Haiti 2010; military deployments) of FAST/eFAST used for surge triage where CT was absent or overwhelmed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11064240" cy="128016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617720"/>
            <a:ext cx="64008" cy="128016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727448"/>
            <a:ext cx="106984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919B"/>
                </a:solidFill>
                <a:latin typeface="Segoe UI"/>
              </a:rPr>
              <a:t>Consistent themes across reports</a:t>
            </a:r>
          </a:p>
          <a:p>
            <a:pPr>
              <a:lnSpc>
                <a:spcPct val="105000"/>
              </a:lnSpc>
              <a:spcBef>
                <a:spcPts val="400"/>
              </a:spcBef>
            </a:pPr>
            <a:r>
              <a:rPr sz="1400">
                <a:solidFill>
                  <a:srgbClr val="35424E"/>
                </a:solidFill>
                <a:latin typeface="Segoe UI"/>
              </a:rPr>
              <a:t>Fast per-patient exam times, usable in austere conditions, helps prioritize surgery and evacuation; performance depends on operator skill and re-examination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4 · MASS CASUALTY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Where eFAST plugs into MCI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MCI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3611880" cy="30175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4008" cy="301752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200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B2740"/>
                </a:solidFill>
                <a:latin typeface="Segoe UI"/>
              </a:rPr>
              <a:t>1
</a:t>
            </a:r>
            <a:r>
              <a:rPr sz="1700" b="1" i="0">
                <a:solidFill>
                  <a:srgbClr val="0B2740"/>
                </a:solidFill>
                <a:latin typeface="Segoe UI"/>
              </a:rPr>
              <a:t>Primary triage
</a:t>
            </a:r>
            <a:r>
              <a:rPr sz="1350" b="0" i="0">
                <a:solidFill>
                  <a:srgbClr val="35424E"/>
                </a:solidFill>
                <a:latin typeface="Segoe UI"/>
              </a:rPr>
              <a:t>START (or local equivalent) sorts by physiology — seconds per patient, no equipment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78808" y="3200400"/>
            <a:ext cx="283464" cy="457200"/>
          </a:xfrm>
          <a:prstGeom prst="rightArrow">
            <a:avLst/>
          </a:prstGeom>
          <a:solidFill>
            <a:srgbClr val="6E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920240"/>
            <a:ext cx="3611880" cy="30175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920240"/>
            <a:ext cx="64008" cy="30175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103120"/>
            <a:ext cx="3200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4919B"/>
                </a:solidFill>
                <a:latin typeface="Segoe UI"/>
              </a:rPr>
              <a:t>2
</a:t>
            </a:r>
            <a:r>
              <a:rPr sz="1700" b="1" i="0">
                <a:solidFill>
                  <a:srgbClr val="0B2740"/>
                </a:solidFill>
                <a:latin typeface="Segoe UI"/>
              </a:rPr>
              <a:t>Secondary triage + eFAST
</a:t>
            </a:r>
            <a:r>
              <a:rPr sz="1350" b="0" i="0">
                <a:solidFill>
                  <a:srgbClr val="35424E"/>
                </a:solidFill>
                <a:latin typeface="Segoe UI"/>
              </a:rPr>
              <a:t>Sonographic screen of “delayed” and borderline “immediate” patients — find the quiet bleeders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92440" y="3200400"/>
            <a:ext cx="283464" cy="457200"/>
          </a:xfrm>
          <a:prstGeom prst="rightArrow">
            <a:avLst/>
          </a:prstGeom>
          <a:solidFill>
            <a:srgbClr val="6E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1920240"/>
            <a:ext cx="3611880" cy="3017520"/>
          </a:xfrm>
          <a:prstGeom prst="round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5904" y="1920240"/>
            <a:ext cx="64008" cy="301752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04504" y="2103120"/>
            <a:ext cx="3200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2A541"/>
                </a:solidFill>
                <a:latin typeface="Segoe UI"/>
              </a:rPr>
              <a:t>3
</a:t>
            </a:r>
            <a:r>
              <a:rPr sz="1700" b="1" i="0">
                <a:solidFill>
                  <a:srgbClr val="0B2740"/>
                </a:solidFill>
                <a:latin typeface="Segoe UI"/>
              </a:rPr>
              <a:t>Resource assignment
</a:t>
            </a:r>
            <a:r>
              <a:rPr sz="1350" b="0" i="0">
                <a:solidFill>
                  <a:srgbClr val="35424E"/>
                </a:solidFill>
                <a:latin typeface="Segoe UI"/>
              </a:rPr>
              <a:t>Positive abdomen/pericardium → surgical queue or first evacuation slots; negative → serial re-triage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120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919B"/>
                </a:solidFill>
                <a:latin typeface="Segoe UI"/>
              </a:rPr>
              <a:t>Key principle: </a:t>
            </a:r>
            <a:r>
              <a:rPr sz="1700" b="0" i="0">
                <a:solidFill>
                  <a:srgbClr val="35424E"/>
                </a:solidFill>
                <a:latin typeface="Segoe UI"/>
              </a:rPr>
              <a:t>eFAST refines triage categories — it does not replace the triage system or delay obvious salvage.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4 · MASS CASUALTY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A practical MCI ultrasound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MCI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One trained operator roams with one machine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the sonographer goes to the patient, never the reverse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Abbreviated exam, ~1–2 minutes per patient: abdomen + pericardium first; thorax when it changes disposition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Mark the result on the patient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 — triage tag or skin marker (e.g., “F+ RUQ 14:32”), because charts do not exist in an MCI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Re-triage loop: negatives get rescanned on a schedule or on any physiologic change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Rehearse it: include ultrasound in your hospital's next MCI drill — roles, batteries, disinfection, tag conventions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4 · MASS CASUALTY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Limitations under surge conditions — be honest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MCI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C9444D"/>
                </a:solidFill>
                <a:latin typeface="Segoe UI"/>
              </a:rPr>
              <a:t>A single negative scan is weakest exactly when repeat scans are hardest to deliver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Operator fatigue and cognitive load degrade accuracy over hours of continuous scanning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One machine = one queue; device failure or dead batteries can silently remove the capability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Environmental reality: light, noise, weather, contaminated fields, probe disinfection between patients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4919B"/>
                </a:solidFill>
                <a:latin typeface="Segoe UI"/>
              </a:rPr>
              <a:t>Mitigations: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scheduled operator rotation, spare batteries and probes, pre-agreed abbreviated protocol, drilled tag conventions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4 · MASS CASUALTY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Case 3 — the bus rollover, 30 km out of town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Interurban bus rollover: 23 casualties arrive at a district hospital over 40 minutes; one general surgeon, one OR, no CT after hours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START triage: 4 immediate, 9 delayed, 8 minor, 2 deceased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eFAST on the 4 immediate + 9 delayed (≈20 minutes total):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1" i="0">
                <a:solidFill>
                  <a:srgbClr val="C9444D"/>
                </a:solidFill>
                <a:latin typeface="Segoe UI"/>
              </a:rPr>
              <a:t>2 positive abdomens found among the “delayed”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 — both upgraded, one to the local OR, one to the first helicopter</a:t>
            </a:r>
          </a:p>
          <a:p>
            <a:pPr lvl="1">
              <a:lnSpc>
                <a:spcPct val="105000"/>
              </a:lnSpc>
              <a:spcAft>
                <a:spcPts val="1000"/>
              </a:spcAft>
            </a:pPr>
            <a:r>
              <a:rPr sz="1700" b="0">
                <a:solidFill>
                  <a:srgbClr val="6E7B87"/>
                </a:solidFill>
                <a:latin typeface="Segoe UI"/>
              </a:rPr>
              <a:t>–  </a:t>
            </a:r>
            <a:r>
              <a:rPr sz="1700" b="0" i="0">
                <a:solidFill>
                  <a:srgbClr val="6E7B87"/>
                </a:solidFill>
                <a:latin typeface="Segoe UI"/>
              </a:rPr>
              <a:t>1 “immediate” with dry belly and pericardium → hemothorax found → chest drain locally, evacuation deferred safely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4919B"/>
                </a:solidFill>
                <a:latin typeface="Segoe UI"/>
              </a:rPr>
              <a:t>Same probe, three roles: rural imaging, triage refinement, resource allocation.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919B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The road ahead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4206240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B8C9D9"/>
                </a:solidFill>
                <a:latin typeface="Segoe UI"/>
              </a:rPr>
              <a:t>Training pipelines, tele-mentoring, AI assistance — and five closing points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PART 5 ·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Where this is heading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AI-assisted interpretation: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automated free-fluid and lung-sliding detection is in active development; early tools aim to support novices, not replace training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Tele-mentoring at scale: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remote guidance can extend one expert across many rural sites and disaster scenes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Cheaper, tougher hardware: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handhelds are approaching commodity pricing — the barrier is shifting from equipment to education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35424E"/>
                </a:solidFill>
                <a:latin typeface="Segoe UI"/>
              </a:rPr>
              <a:t>Systems integration: </a:t>
            </a:r>
            <a:r>
              <a:rPr sz="1900" b="0" i="0">
                <a:solidFill>
                  <a:srgbClr val="35424E"/>
                </a:solidFill>
                <a:latin typeface="Segoe UI"/>
              </a:rPr>
              <a:t>images and findings flowing into transfer networks and disaster command dashboards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900" b="0" i="1">
                <a:solidFill>
                  <a:srgbClr val="6E7B87"/>
                </a:solidFill>
                <a:latin typeface="Segoe UI"/>
              </a:rPr>
              <a:t>Treat AI claims with the same skepticism as any diagnostic claim — ask for the validation data.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Five things to take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38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1828800"/>
            <a:ext cx="566928" cy="566928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56232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55648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35424E"/>
                </a:solidFill>
                <a:latin typeface="Segoe UI"/>
              </a:rPr>
              <a:t>eFAST answers four binary questions in minutes — it is a disposition tool, not a survey of injury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2724912"/>
            <a:ext cx="566928" cy="566928"/>
          </a:xfrm>
          <a:prstGeom prst="ellipse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52344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5176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35424E"/>
                </a:solidFill>
                <a:latin typeface="Segoe UI"/>
              </a:rPr>
              <a:t>Unstable + positive abdomen = operating room; no CT belongs in that pathway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3621024"/>
            <a:ext cx="566928" cy="566928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48456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4787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35424E"/>
                </a:solidFill>
                <a:latin typeface="Segoe UI"/>
              </a:rPr>
              <a:t>A negative exam never closes the story — the serial exam is the safety net, especially before and during rural transfer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517136"/>
            <a:ext cx="566928" cy="566928"/>
          </a:xfrm>
          <a:prstGeom prst="ellipse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544568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44398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35424E"/>
                </a:solidFill>
                <a:latin typeface="Segoe UI"/>
              </a:rPr>
              <a:t>In mass casualty, eFAST refines secondary triage: it finds the quiet bleeders that physiologic triage misses</a:t>
            </a:r>
          </a:p>
        </p:txBody>
      </p:sp>
      <p:sp>
        <p:nvSpPr>
          <p:cNvPr id="20" name="Oval 19"/>
          <p:cNvSpPr/>
          <p:nvPr/>
        </p:nvSpPr>
        <p:spPr>
          <a:xfrm>
            <a:off x="594360" y="5413248"/>
            <a:ext cx="566928" cy="566928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440680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40096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 i="0">
                <a:solidFill>
                  <a:srgbClr val="35424E"/>
                </a:solidFill>
                <a:latin typeface="Segoe UI"/>
              </a:rPr>
              <a:t>The barrier is no longer the machine — it is training, maintenance of skill, and rehearsed workflows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919B"/>
                </a:solidFill>
                <a:latin typeface="Segoe U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2740"/>
                </a:solidFill>
                <a:latin typeface="Segoe UI"/>
              </a:rPr>
              <a:t>Selected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389888"/>
            <a:ext cx="1463040" cy="54864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  ·  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35424E"/>
                </a:solidFill>
                <a:latin typeface="Segoe UI"/>
              </a:rPr>
              <a:t>Scalea TM, et al. Focused Assessment with Sonography for Trauma (FAST): results of an international consensus conference. J Trauma. 1999.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35424E"/>
                </a:solidFill>
                <a:latin typeface="Segoe UI"/>
              </a:rPr>
              <a:t>Rozycki GS, et al. Surgeon-performed ultrasound for the assessment of truncal injuries. Ann Surg. 1998.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35424E"/>
                </a:solidFill>
                <a:latin typeface="Segoe UI"/>
              </a:rPr>
              <a:t>Kirkpatrick AW, et al. Hand-held thoracic sonography for detecting post-traumatic pneumothoraces: the extended FAST (EFAST). J Trauma. 2004.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35424E"/>
                </a:solidFill>
                <a:latin typeface="Segoe UI"/>
              </a:rPr>
              <a:t>Sarkisian AE, et al. Sonographic screening of mass casualties for abdominal and renal injuries following the 1988 Armenian earthquake. J Trauma. 1991.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500" b="0" i="0">
                <a:solidFill>
                  <a:srgbClr val="35424E"/>
                </a:solidFill>
                <a:latin typeface="Segoe UI"/>
              </a:rPr>
              <a:t>American College of Surgeons. Advanced Trauma Life Support (ATLS), 10th edition. 2018.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4919B"/>
                </a:solidFill>
                <a:latin typeface="Segoe UI"/>
              </a:rPr>
              <a:t>▪  </a:t>
            </a:r>
            <a:r>
              <a:rPr sz="1400" b="0" i="1">
                <a:solidFill>
                  <a:srgbClr val="C9444D"/>
                </a:solidFill>
                <a:latin typeface="Segoe UI"/>
              </a:rPr>
              <a:t>[VERIFY all citation details against the primary sources before presenting; add recent meta-analyses of your choosing]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09728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B8C9D9"/>
                </a:solidFill>
                <a:latin typeface="Segoe UI"/>
              </a:rPr>
              <a:t>Questions — and your own rural or MCI experiences — very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Chia-Ching Chen, MD   ·   </a:t>
            </a:r>
            <a:r>
              <a:rPr sz="1600" b="0" i="1">
                <a:solidFill>
                  <a:srgbClr val="14919B"/>
                </a:solidFill>
                <a:latin typeface="Segoe UI"/>
              </a:rPr>
              <a:t>[EMAIL / CONTACT]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473952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eFAST in Trauma — Keynote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73952"/>
            <a:ext cx="640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E7B87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